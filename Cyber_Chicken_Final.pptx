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333" r:id="rId2"/>
    <p:sldId id="365" r:id="rId3"/>
    <p:sldId id="366" r:id="rId4"/>
    <p:sldId id="362" r:id="rId5"/>
    <p:sldId id="364" r:id="rId6"/>
    <p:sldId id="375" r:id="rId7"/>
    <p:sldId id="372" r:id="rId8"/>
    <p:sldId id="376" r:id="rId9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72"/>
            <p14:sldId id="376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2571"/>
    <a:srgbClr val="DCCEE4"/>
    <a:srgbClr val="FFD6E3"/>
    <a:srgbClr val="FFFFFF"/>
    <a:srgbClr val="753A93"/>
    <a:srgbClr val="976BAE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9" autoAdjust="0"/>
    <p:restoredTop sz="95796"/>
  </p:normalViewPr>
  <p:slideViewPr>
    <p:cSldViewPr snapToGrid="0" showGuides="1">
      <p:cViewPr varScale="1">
        <p:scale>
          <a:sx n="106" d="100"/>
          <a:sy n="106" d="100"/>
        </p:scale>
        <p:origin x="560" y="17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383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20.10.2026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20.10.2026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20.10.2026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20.10.2026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20.10.2026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20.10.2026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B97197-A282-4537-A8D9-1143098D6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327" y="6356362"/>
            <a:ext cx="702819" cy="365125"/>
          </a:xfrm>
        </p:spPr>
        <p:txBody>
          <a:bodyPr/>
          <a:lstStyle/>
          <a:p>
            <a:fld id="{52DCC5B9-D646-4B76-891F-6FF4E74E9CB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03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en-US" sz="4800" dirty="0"/>
              <a:t>Cyber Chicken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8758" y="5601256"/>
            <a:ext cx="8930641" cy="757174"/>
          </a:xfrm>
        </p:spPr>
        <p:txBody>
          <a:bodyPr anchor="ctr">
            <a:normAutofit lnSpcReduction="10000"/>
          </a:bodyPr>
          <a:lstStyle/>
          <a:p>
            <a:pPr indent="11113"/>
            <a:r>
              <a:rPr lang="ru-RU" dirty="0"/>
              <a:t>Задача №2</a:t>
            </a:r>
            <a:r>
              <a:rPr lang="en-US" dirty="0"/>
              <a:t>: </a:t>
            </a:r>
            <a:r>
              <a:rPr lang="ru-RU" dirty="0"/>
              <a:t>Получение доступа к прошивке современной компьютерной платы   с использованием различных техник </a:t>
            </a:r>
            <a:br>
              <a:rPr lang="en-US" dirty="0"/>
            </a:br>
            <a:r>
              <a:rPr lang="ru-RU" dirty="0"/>
              <a:t>реверс-инжиниринга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308583" y="-118753"/>
            <a:ext cx="4559950" cy="1246909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7" name="Image 17" descr=" ">
            <a:extLst>
              <a:ext uri="{FF2B5EF4-FFF2-40B4-BE49-F238E27FC236}">
                <a16:creationId xmlns:a16="http://schemas.microsoft.com/office/drawing/2014/main" id="{545A5082-63D4-599B-AAE7-BF8F651E8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227463"/>
            <a:ext cx="2795547" cy="66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3" name="Рисунок 22" descr="Изображение выглядит как игрушка, птица, в помещени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AA9741-3ADE-8879-24AF-B6696BE064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85" b="26985"/>
          <a:stretch>
            <a:fillRect/>
          </a:stretch>
        </p:blipFill>
        <p:spPr>
          <a:xfrm>
            <a:off x="0" y="334963"/>
            <a:ext cx="6456363" cy="2971800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Аппаратный </a:t>
            </a:r>
            <a:r>
              <a:rPr lang="ru-RU" dirty="0" err="1">
                <a:solidFill>
                  <a:schemeClr val="tx1"/>
                </a:solidFill>
              </a:rPr>
              <a:t>брутфорс</a:t>
            </a:r>
            <a:r>
              <a:rPr lang="ru-RU" dirty="0">
                <a:solidFill>
                  <a:schemeClr val="tx1"/>
                </a:solidFill>
              </a:rPr>
              <a:t> кода-пароля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Хабибуллин А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ru-RU" dirty="0">
                <a:solidFill>
                  <a:schemeClr val="tx1"/>
                </a:solidFill>
              </a:rPr>
              <a:t>В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ru-RU" dirty="0">
                <a:solidFill>
                  <a:schemeClr val="tx1"/>
                </a:solidFill>
              </a:rPr>
              <a:t>, ИБ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Семейная команда (муж</a:t>
            </a:r>
            <a:r>
              <a:rPr lang="en-US" i="1" dirty="0">
                <a:solidFill>
                  <a:schemeClr val="tx1"/>
                </a:solidFill>
              </a:rPr>
              <a:t>, </a:t>
            </a:r>
            <a:r>
              <a:rPr lang="ru-RU" i="1" dirty="0">
                <a:solidFill>
                  <a:schemeClr val="tx1"/>
                </a:solidFill>
              </a:rPr>
              <a:t>жена</a:t>
            </a:r>
            <a:r>
              <a:rPr lang="en-US" i="1" dirty="0">
                <a:solidFill>
                  <a:schemeClr val="tx1"/>
                </a:solidFill>
              </a:rPr>
              <a:t>, </a:t>
            </a:r>
            <a:r>
              <a:rPr lang="ru-RU" i="1" dirty="0">
                <a:solidFill>
                  <a:schemeClr val="tx1"/>
                </a:solidFill>
              </a:rPr>
              <a:t>сын)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НИУ ВШЭ (магистратура </a:t>
            </a:r>
            <a:r>
              <a:rPr lang="en-US" i="1" dirty="0">
                <a:solidFill>
                  <a:schemeClr val="tx1"/>
                </a:solidFill>
              </a:rPr>
              <a:t>IoT</a:t>
            </a:r>
            <a:r>
              <a:rPr lang="ru-RU" i="1" dirty="0">
                <a:solidFill>
                  <a:schemeClr val="tx1"/>
                </a:solidFill>
              </a:rPr>
              <a:t>)</a:t>
            </a:r>
            <a:r>
              <a:rPr lang="en-US" i="1" dirty="0">
                <a:solidFill>
                  <a:schemeClr val="tx1"/>
                </a:solidFill>
              </a:rPr>
              <a:t>, </a:t>
            </a:r>
            <a:r>
              <a:rPr lang="en-US" i="1" dirty="0" err="1">
                <a:solidFill>
                  <a:schemeClr val="tx1"/>
                </a:solidFill>
              </a:rPr>
              <a:t>CyberOK</a:t>
            </a:r>
            <a:r>
              <a:rPr lang="en-US" i="1" dirty="0">
                <a:solidFill>
                  <a:schemeClr val="tx1"/>
                </a:solidFill>
              </a:rPr>
              <a:t> (Pentest)</a:t>
            </a:r>
            <a:endParaRPr lang="ru-RU" i="1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en-US" sz="2400" dirty="0">
                <a:solidFill>
                  <a:schemeClr val="accent5"/>
                </a:solidFill>
                <a:latin typeface="+mn-lt"/>
              </a:rPr>
              <a:t>Cyber Chicken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Предложен и продемонстрирован способ получения прошивки и доступа к хранилищу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3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3280787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3453071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@axelixy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89160182959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CyberOK</a:t>
            </a:r>
            <a:r>
              <a:rPr lang="ru-RU" sz="1200" dirty="0">
                <a:solidFill>
                  <a:schemeClr val="tx1"/>
                </a:solidFill>
              </a:rPr>
              <a:t>/ВШЭ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3453070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Александр Хабибуллин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68805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70527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Моральная поддержка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chemeClr val="tx1"/>
                </a:solidFill>
              </a:rPr>
              <a:t>@</a:t>
            </a:r>
            <a:r>
              <a:rPr lang="en" sz="1200" dirty="0" err="1">
                <a:solidFill>
                  <a:schemeClr val="tx1"/>
                </a:solidFill>
              </a:rPr>
              <a:t>katerinool</a:t>
            </a:r>
            <a:endParaRPr lang="en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89160182959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Декрет (ГК Формула)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0527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Катерина Хабибуллина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4" name="Рисунок 23" descr="Изображение выглядит как Человеческое лицо, человек, одежда, Подбородо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0ECEB37-979A-6664-8FAC-0C229AAE643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0" r="7180"/>
          <a:stretch>
            <a:fillRect/>
          </a:stretch>
        </p:blipFill>
        <p:spPr>
          <a:xfrm>
            <a:off x="3515468" y="1827213"/>
            <a:ext cx="1722438" cy="1541462"/>
          </a:xfrm>
        </p:spPr>
      </p:pic>
      <p:pic>
        <p:nvPicPr>
          <p:cNvPr id="19" name="Рисунок 18" descr="Изображение выглядит как человек, Человеческое лицо, ресница, губная пома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96C19C3-42EE-5F6D-7719-F556CA234433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7" b="4747"/>
          <a:stretch>
            <a:fillRect/>
          </a:stretch>
        </p:blipFill>
        <p:spPr>
          <a:xfrm>
            <a:off x="7114925" y="1809750"/>
            <a:ext cx="1722438" cy="1558925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en-US" dirty="0">
                <a:latin typeface="+mn-lt"/>
              </a:rPr>
              <a:t>Cyber Chicken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en-US" dirty="0">
                <a:latin typeface="+mn-lt"/>
              </a:rPr>
              <a:t>Cyber Chicken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err="1">
                <a:solidFill>
                  <a:schemeClr val="tx1"/>
                </a:solidFill>
              </a:rPr>
              <a:t>ИБшник</a:t>
            </a:r>
            <a:r>
              <a:rPr lang="en-US" dirty="0">
                <a:solidFill>
                  <a:schemeClr val="tx1"/>
                </a:solidFill>
              </a:rPr>
              <a:t> + HR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Основная работа + дождливая погода + ставка по ипотеке (пока не преодолели)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Имеется опыт в реверсе</a:t>
            </a:r>
            <a:r>
              <a:rPr lang="en-US" dirty="0">
                <a:solidFill>
                  <a:schemeClr val="tx1"/>
                </a:solidFill>
              </a:rPr>
              <a:t>, CTF, </a:t>
            </a:r>
            <a:r>
              <a:rPr lang="ru-RU" dirty="0" err="1">
                <a:solidFill>
                  <a:schemeClr val="tx1"/>
                </a:solidFill>
              </a:rPr>
              <a:t>пентесте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ru-RU" dirty="0">
                <a:solidFill>
                  <a:schemeClr val="tx1"/>
                </a:solidFill>
              </a:rPr>
              <a:t>ломать то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ru-RU" dirty="0">
                <a:solidFill>
                  <a:schemeClr val="tx1"/>
                </a:solidFill>
              </a:rPr>
              <a:t>что работает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b="1" dirty="0">
                <a:solidFill>
                  <a:schemeClr val="tx1"/>
                </a:solidFill>
              </a:rPr>
              <a:t>На финале</a:t>
            </a:r>
            <a:r>
              <a:rPr lang="en-US" sz="1400" b="1" dirty="0">
                <a:solidFill>
                  <a:schemeClr val="tx1"/>
                </a:solidFill>
              </a:rPr>
              <a:t>:</a:t>
            </a:r>
            <a:endParaRPr lang="ru-RU" sz="1400" b="1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Дамп прошивки через </a:t>
            </a:r>
            <a:r>
              <a:rPr lang="en-US" sz="1400" dirty="0" err="1">
                <a:solidFill>
                  <a:schemeClr val="tx1"/>
                </a:solidFill>
              </a:rPr>
              <a:t>picotool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ru-RU" sz="1400" dirty="0" err="1">
                <a:solidFill>
                  <a:schemeClr val="tx1"/>
                </a:solidFill>
              </a:rPr>
              <a:t>Брутфорс</a:t>
            </a:r>
            <a:r>
              <a:rPr lang="ru-RU" sz="1400" dirty="0">
                <a:solidFill>
                  <a:schemeClr val="tx1"/>
                </a:solidFill>
              </a:rPr>
              <a:t> атака с обходом ограничения на количество ввода кода</a:t>
            </a:r>
            <a:endParaRPr lang="en-US" sz="14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chemeClr val="tx1"/>
                </a:solidFill>
              </a:rPr>
              <a:t>После финала</a:t>
            </a:r>
            <a:r>
              <a:rPr lang="en-US" sz="1400" b="1" dirty="0">
                <a:solidFill>
                  <a:schemeClr val="tx1"/>
                </a:solidFill>
              </a:rPr>
              <a:t>:</a:t>
            </a:r>
          </a:p>
          <a:p>
            <a:r>
              <a:rPr lang="ru-RU" sz="1400" dirty="0">
                <a:solidFill>
                  <a:schemeClr val="tx1"/>
                </a:solidFill>
              </a:rPr>
              <a:t>Завершение </a:t>
            </a:r>
            <a:r>
              <a:rPr lang="ru-RU" sz="1400" dirty="0" err="1">
                <a:solidFill>
                  <a:schemeClr val="tx1"/>
                </a:solidFill>
              </a:rPr>
              <a:t>брутфорса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Реализация атаки на ключ подписи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Опишите ваши идеи по дальнейшему применению, развитию или внедрению 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проекта – только в УЧЕБНЫХ целях</a:t>
            </a:r>
          </a:p>
          <a:p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Использование библиотеки </a:t>
            </a:r>
            <a:r>
              <a:rPr lang="en" b="1" dirty="0" err="1">
                <a:solidFill>
                  <a:schemeClr val="tx1"/>
                </a:solidFill>
              </a:rPr>
              <a:t>picotool</a:t>
            </a:r>
            <a:r>
              <a:rPr lang="en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e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Удерживать </a:t>
            </a:r>
            <a:r>
              <a:rPr lang="en-US" dirty="0">
                <a:solidFill>
                  <a:schemeClr val="tx1"/>
                </a:solidFill>
              </a:rPr>
              <a:t>Boot + </a:t>
            </a:r>
            <a:r>
              <a:rPr lang="ru-RU" dirty="0">
                <a:solidFill>
                  <a:schemeClr val="tx1"/>
                </a:solidFill>
              </a:rPr>
              <a:t>нажать </a:t>
            </a:r>
            <a:r>
              <a:rPr lang="en-US" dirty="0">
                <a:solidFill>
                  <a:schemeClr val="tx1"/>
                </a:solidFill>
              </a:rPr>
              <a:t>Reset + </a:t>
            </a:r>
            <a:r>
              <a:rPr lang="ru-RU" dirty="0">
                <a:solidFill>
                  <a:schemeClr val="tx1"/>
                </a:solidFill>
              </a:rPr>
              <a:t>Отпустить </a:t>
            </a:r>
            <a:r>
              <a:rPr lang="en-US" dirty="0">
                <a:solidFill>
                  <a:schemeClr val="tx1"/>
                </a:solidFill>
              </a:rPr>
              <a:t>Boot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Команда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picotool</a:t>
            </a:r>
            <a:r>
              <a:rPr lang="en-US" dirty="0">
                <a:solidFill>
                  <a:schemeClr val="tx1"/>
                </a:solidFill>
              </a:rPr>
              <a:t> save -a -v </a:t>
            </a:r>
            <a:r>
              <a:rPr lang="en-US" dirty="0" err="1">
                <a:solidFill>
                  <a:schemeClr val="tx1"/>
                </a:solidFill>
              </a:rPr>
              <a:t>cybersafe.bin</a:t>
            </a:r>
            <a:r>
              <a:rPr lang="en-US" dirty="0">
                <a:solidFill>
                  <a:schemeClr val="tx1"/>
                </a:solidFill>
              </a:rPr>
              <a:t> -t bin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6603966" cy="552061"/>
          </a:xfrm>
        </p:spPr>
        <p:txBody>
          <a:bodyPr/>
          <a:lstStyle/>
          <a:p>
            <a:r>
              <a:rPr lang="ru-RU" sz="3600" dirty="0">
                <a:solidFill>
                  <a:schemeClr val="bg1"/>
                </a:solidFill>
              </a:rPr>
              <a:t>Снятие дампа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ru-RU" sz="3600" dirty="0">
                <a:solidFill>
                  <a:schemeClr val="bg1"/>
                </a:solidFill>
              </a:rPr>
              <a:t>прошивки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033DB6-12B0-F9A6-E1C8-44CD59E5F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540" y="2139420"/>
            <a:ext cx="50673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8DA58-9F88-73B3-3C3D-16606A7D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DB9E3E-59DC-4DE3-A26F-593058DBE6DC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8EF14C-7557-E684-1880-4BB00543C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099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Идея</a:t>
            </a:r>
            <a:r>
              <a:rPr lang="en-US" b="1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Эмуляция </a:t>
            </a:r>
            <a:r>
              <a:rPr lang="ru-RU" dirty="0" err="1">
                <a:solidFill>
                  <a:schemeClr val="tx1"/>
                </a:solidFill>
              </a:rPr>
              <a:t>энкодера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Проблемы</a:t>
            </a:r>
            <a:r>
              <a:rPr lang="en-US" b="1" dirty="0">
                <a:solidFill>
                  <a:schemeClr val="tx1"/>
                </a:solidFill>
              </a:rPr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Ограничение на подбор кода-пароля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Тайминг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Считывание логов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Решение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Замыкание кнопки </a:t>
            </a:r>
            <a:r>
              <a:rPr lang="en-US" dirty="0">
                <a:solidFill>
                  <a:schemeClr val="tx1"/>
                </a:solidFill>
              </a:rPr>
              <a:t>RUN </a:t>
            </a:r>
            <a:r>
              <a:rPr lang="ru-RU" dirty="0">
                <a:solidFill>
                  <a:schemeClr val="tx1"/>
                </a:solidFill>
              </a:rPr>
              <a:t>после 3 попыток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Подбор тайминга между вводом 1 цифры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</a:rPr>
              <a:t>Подключение </a:t>
            </a:r>
            <a:r>
              <a:rPr lang="en-US" dirty="0">
                <a:solidFill>
                  <a:schemeClr val="tx1"/>
                </a:solidFill>
              </a:rPr>
              <a:t>RP-Pico </a:t>
            </a:r>
            <a:r>
              <a:rPr lang="ru-RU" dirty="0">
                <a:solidFill>
                  <a:schemeClr val="tx1"/>
                </a:solidFill>
              </a:rPr>
              <a:t>для логов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F8EF69A1-7080-ADF3-D418-861428A7C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D2E3D-DC6B-25EC-439A-DA9EC569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6603966" cy="552061"/>
          </a:xfrm>
        </p:spPr>
        <p:txBody>
          <a:bodyPr/>
          <a:lstStyle/>
          <a:p>
            <a:r>
              <a:rPr lang="ru-RU" sz="3600" dirty="0" err="1">
                <a:solidFill>
                  <a:schemeClr val="bg1"/>
                </a:solidFill>
              </a:rPr>
              <a:t>Брутфорс</a:t>
            </a:r>
            <a:r>
              <a:rPr lang="ru-RU" sz="3600" dirty="0">
                <a:solidFill>
                  <a:schemeClr val="bg1"/>
                </a:solidFill>
              </a:rPr>
              <a:t> атака</a:t>
            </a:r>
          </a:p>
        </p:txBody>
      </p:sp>
      <p:pic>
        <p:nvPicPr>
          <p:cNvPr id="9" name="Рисунок 8" descr="Изображение выглядит как электроника, кабель, Электронная техника, Электронное устрой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B2A4FB4-5324-78D0-7304-0690699D6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0" b="7315"/>
          <a:stretch/>
        </p:blipFill>
        <p:spPr>
          <a:xfrm rot="5400000">
            <a:off x="6754078" y="1751109"/>
            <a:ext cx="4235766" cy="4323020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804A4D47-095F-7175-0B9C-71AC33426C19}"/>
              </a:ext>
            </a:extLst>
          </p:cNvPr>
          <p:cNvSpPr txBox="1">
            <a:spLocks/>
          </p:cNvSpPr>
          <p:nvPr/>
        </p:nvSpPr>
        <p:spPr>
          <a:xfrm>
            <a:off x="701189" y="4894678"/>
            <a:ext cx="10789619" cy="3099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01D1BB5A-107F-505A-0B87-513F4E995FA3}"/>
              </a:ext>
            </a:extLst>
          </p:cNvPr>
          <p:cNvSpPr txBox="1">
            <a:spLocks/>
          </p:cNvSpPr>
          <p:nvPr/>
        </p:nvSpPr>
        <p:spPr>
          <a:xfrm>
            <a:off x="623888" y="5476709"/>
            <a:ext cx="10789619" cy="3099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</a:rPr>
              <a:t>*</a:t>
            </a:r>
            <a:r>
              <a:rPr lang="ru-RU" dirty="0">
                <a:solidFill>
                  <a:schemeClr val="tx1"/>
                </a:solidFill>
              </a:rPr>
              <a:t>На подбор всех вариантов (0000 - 9999) около 18-19 часов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/>
                </a:solidFill>
              </a:rPr>
              <a:t>** </a:t>
            </a:r>
            <a:r>
              <a:rPr lang="ru-RU" dirty="0">
                <a:solidFill>
                  <a:schemeClr val="tx1"/>
                </a:solidFill>
              </a:rPr>
              <a:t>Видео перебора присылали по почте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57917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11268</TotalTime>
  <Words>317</Words>
  <Application>Microsoft Macintosh PowerPoint</Application>
  <PresentationFormat>Широкоэкранный</PresentationFormat>
  <Paragraphs>78</Paragraphs>
  <Slides>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Montserrat</vt:lpstr>
      <vt:lpstr>Wingdings</vt:lpstr>
      <vt:lpstr>Для Академия инноваторов 16_9</vt:lpstr>
      <vt:lpstr>Презентация PowerPoint</vt:lpstr>
      <vt:lpstr>Cyber Chicken</vt:lpstr>
      <vt:lpstr>Cyber Chicken</vt:lpstr>
      <vt:lpstr>Cyber Chicken</vt:lpstr>
      <vt:lpstr>Cyber Chicken</vt:lpstr>
      <vt:lpstr>КОРОТКО О РЕШЕНИИ</vt:lpstr>
      <vt:lpstr>Снятие дампа прошивки</vt:lpstr>
      <vt:lpstr>Брутфорс атака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axelixy</cp:lastModifiedBy>
  <cp:revision>100</cp:revision>
  <dcterms:created xsi:type="dcterms:W3CDTF">2023-05-15T07:36:23Z</dcterms:created>
  <dcterms:modified xsi:type="dcterms:W3CDTF">2026-10-20T17:38:02Z</dcterms:modified>
</cp:coreProperties>
</file>